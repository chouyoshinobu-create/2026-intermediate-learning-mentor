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51" r:id="rId3"/>
    <p:sldId id="356" r:id="rId4"/>
    <p:sldId id="336" r:id="rId5"/>
    <p:sldId id="357" r:id="rId6"/>
    <p:sldId id="345" r:id="rId7"/>
    <p:sldId id="358" r:id="rId8"/>
    <p:sldId id="346" r:id="rId9"/>
    <p:sldId id="347" r:id="rId10"/>
    <p:sldId id="354" r:id="rId11"/>
    <p:sldId id="355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39A810-BA55-4DF7-B595-35A5C1A4DFDB}" v="1" dt="2025-08-20T12:39:41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A739A810-BA55-4DF7-B595-35A5C1A4DFDB}"/>
    <pc:docChg chg="modMainMaster">
      <pc:chgData name="嘉展 張" userId="56c0cc265fef7f12" providerId="LiveId" clId="{A739A810-BA55-4DF7-B595-35A5C1A4DFDB}" dt="2025-08-20T12:39:41.924" v="0"/>
      <pc:docMkLst>
        <pc:docMk/>
      </pc:docMkLst>
      <pc:sldMasterChg chg="modSldLayout">
        <pc:chgData name="嘉展 張" userId="56c0cc265fef7f12" providerId="LiveId" clId="{A739A810-BA55-4DF7-B595-35A5C1A4DFDB}" dt="2025-08-20T12:39:41.924" v="0"/>
        <pc:sldMasterMkLst>
          <pc:docMk/>
          <pc:sldMasterMk cId="2733321511" sldId="2147483688"/>
        </pc:sldMasterMkLst>
        <pc:sldLayoutChg chg="modSp">
          <pc:chgData name="嘉展 張" userId="56c0cc265fef7f12" providerId="LiveId" clId="{A739A810-BA55-4DF7-B595-35A5C1A4DFDB}" dt="2025-08-20T12:39:41.924" v="0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A739A810-BA55-4DF7-B595-35A5C1A4DFDB}" dt="2025-08-20T12:39:41.924" v="0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12T16:21:57.820" v="300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12T16:21:57.820" v="300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12T16:21:22.175" v="293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50-B6C1-742F-B5AE-2819E48B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DB47E-6094-D346-2799-A8C066C3B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77B647-F565-395E-D257-4836AFA7E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86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68B4-823E-6B75-AD48-4537FFDB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D69129-4A9D-744F-9F90-A24E2E56A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31462F-9778-DA65-411D-3637BE5A9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9578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4579-EC49-74F7-731C-CF35115D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6E8282-F896-AF4E-2FE7-D71647B80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0342D6-751C-5997-C484-428A8A459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057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D30C6-2C4E-49CE-F500-5FE9D1EB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ED5BDB2-9F84-7C2A-CC93-ACA99BFF2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20C29E-7711-F8FE-6B92-C4B262F32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6056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F310-7F58-FA17-6341-7E5E8080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D5293-8193-FF20-FA48-8B4F97398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04C5F3-E8CC-A1B4-0A04-FF293BA05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4699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  <a:endParaRPr lang="ja-JP" altLang="en-US" sz="4200" b="1" i="0" u="none" strike="noStrike" kern="1200" cap="none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 Bold" panose="020B0602020203020207" pitchFamily="50" charset="-128"/>
              <a:ea typeface="Gen Jyuu Gothic Bold" panose="020B0602020203020207" pitchFamily="50" charset="-128"/>
              <a:cs typeface="Gen Jyuu Gothic Bold" panose="020B0602020203020207" pitchFamily="50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5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就職活動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第五課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から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にかけて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～に反して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～てたまらない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に従って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～に違いない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～にわたって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～を除いて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～そうもない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～込む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なんと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05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就職活動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第五課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0CC0-9AEB-CEDC-011A-75914E0C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A69BD8C-0913-B381-ABCA-CA713C77BC80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台風は夏（　から秋にかけて　／　にわたって　）、日本を襲います。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試験の結果は、予想（　に反して　／　に違いない　）、半分以上が不合格でした。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エアコンが壊れていて、（　暑そうもない　／　暑くてたまらない　）一日だった。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ルールが変わると、それ（　に従って　／　に反して　）人々の行動も変わります。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この豪華な部屋を見ると、彼はかなりお金持ちに（　反している　／　違いない　）ね。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ABB65-5595-9560-BE75-B242D3F762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233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83BFF-6C44-6B42-8EC0-B2B0C21C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A6EF91C4-09C3-1BCE-DCAE-F11C5E53315E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台風は夏（　</a:t>
            </a:r>
            <a:r>
              <a:rPr lang="ja-JP" altLang="en-US" sz="4800" dirty="0">
                <a:solidFill>
                  <a:srgbClr val="1C85C9"/>
                </a:solidFill>
              </a:rPr>
              <a:t>から秋にかけて　</a:t>
            </a:r>
            <a:r>
              <a:rPr lang="ja-JP" altLang="en-US" sz="4800" dirty="0"/>
              <a:t>／　にわたって　）、日本を襲います。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試験の結果は、予想（　</a:t>
            </a:r>
            <a:r>
              <a:rPr lang="ja-JP" altLang="en-US" sz="4800" dirty="0">
                <a:solidFill>
                  <a:srgbClr val="1C85C9"/>
                </a:solidFill>
              </a:rPr>
              <a:t>に反して　</a:t>
            </a:r>
            <a:r>
              <a:rPr lang="ja-JP" altLang="en-US" sz="4800" dirty="0"/>
              <a:t>／　に違いない　）、半分以上が不合格でした。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エアコンが壊れていて、（　暑そうもない　／　</a:t>
            </a:r>
            <a:r>
              <a:rPr lang="ja-JP" altLang="en-US" sz="4800" dirty="0">
                <a:solidFill>
                  <a:srgbClr val="1C85C9"/>
                </a:solidFill>
              </a:rPr>
              <a:t>暑くてたまらない　</a:t>
            </a:r>
            <a:r>
              <a:rPr lang="ja-JP" altLang="en-US" sz="4800" dirty="0"/>
              <a:t>）一日だった。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ルールが変わると、それ（　</a:t>
            </a:r>
            <a:r>
              <a:rPr lang="ja-JP" altLang="en-US" sz="4800" dirty="0">
                <a:solidFill>
                  <a:srgbClr val="1C85C9"/>
                </a:solidFill>
              </a:rPr>
              <a:t>に従って　</a:t>
            </a:r>
            <a:r>
              <a:rPr lang="ja-JP" altLang="en-US" sz="4800" dirty="0"/>
              <a:t>／　に反して　）人々の行動も変わります。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この豪華な部屋を見ると、彼はかなりお金持ちに（　反している　／　</a:t>
            </a:r>
            <a:r>
              <a:rPr lang="ja-JP" altLang="en-US" sz="4800" dirty="0">
                <a:solidFill>
                  <a:srgbClr val="1C85C9"/>
                </a:solidFill>
              </a:rPr>
              <a:t>違いない　</a:t>
            </a:r>
            <a:r>
              <a:rPr lang="ja-JP" altLang="en-US" sz="4800" dirty="0"/>
              <a:t>）ね。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DB41D00-B1D1-9AF5-EADB-71C8A50C3F2D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2656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C232-8E7E-373C-6357-B83E851A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E1321ED-A884-C297-CFB0-67F0C676076A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この大会は</a:t>
            </a:r>
            <a:r>
              <a:rPr lang="en-US" altLang="ja-JP" sz="4800" dirty="0"/>
              <a:t>3</a:t>
            </a:r>
            <a:r>
              <a:rPr lang="ja-JP" altLang="en-US" sz="4800" dirty="0"/>
              <a:t>日間（　を除いて　／　にわたって　）行われます。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彼女（　を除いて　／　にわたって　）誰もマスクをしていなかった。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どう見ても今日は雨が（　降りそうもない　／　降ってたまらない　）。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主人公が感情を押さえきれず（　泣きそうもない　／　泣き込んだ　）。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（　なんと　／　なんて　）、彼女は入社して</a:t>
            </a:r>
            <a:r>
              <a:rPr lang="en-US" altLang="ja-JP" sz="4800" dirty="0"/>
              <a:t>1</a:t>
            </a:r>
            <a:r>
              <a:rPr lang="ja-JP" altLang="en-US" sz="4800" dirty="0"/>
              <a:t>ヶ月で店長に昇進したのです！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8A9AF6-D02B-8CD4-94E1-C846C64EEFE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604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1FF70-AD40-F1D2-E578-2A827A23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771C009D-DA4E-A777-3A0B-C7F7A6E77BF0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この大会は</a:t>
            </a:r>
            <a:r>
              <a:rPr lang="en-US" altLang="ja-JP" sz="4800" dirty="0"/>
              <a:t>3</a:t>
            </a:r>
            <a:r>
              <a:rPr lang="ja-JP" altLang="en-US" sz="4800" dirty="0"/>
              <a:t>日間（　を除いて　／　</a:t>
            </a:r>
            <a:r>
              <a:rPr lang="ja-JP" altLang="en-US" sz="4800" dirty="0">
                <a:solidFill>
                  <a:srgbClr val="1C85C9"/>
                </a:solidFill>
              </a:rPr>
              <a:t>にわたって　</a:t>
            </a:r>
            <a:r>
              <a:rPr lang="ja-JP" altLang="en-US" sz="4800" dirty="0"/>
              <a:t>）行われます。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彼女（　</a:t>
            </a:r>
            <a:r>
              <a:rPr lang="ja-JP" altLang="en-US" sz="4800" dirty="0">
                <a:solidFill>
                  <a:srgbClr val="1C85C9"/>
                </a:solidFill>
              </a:rPr>
              <a:t>を除いて　</a:t>
            </a:r>
            <a:r>
              <a:rPr lang="ja-JP" altLang="en-US" sz="4800" dirty="0"/>
              <a:t>／　にわたって　）誰もマスクをしていなかった。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どう見ても今日は雨が（　</a:t>
            </a:r>
            <a:r>
              <a:rPr lang="ja-JP" altLang="en-US" sz="4800" dirty="0">
                <a:solidFill>
                  <a:srgbClr val="1C85C9"/>
                </a:solidFill>
              </a:rPr>
              <a:t>降りそうもない　</a:t>
            </a:r>
            <a:r>
              <a:rPr lang="ja-JP" altLang="en-US" sz="4800" dirty="0"/>
              <a:t>／　降ってたまらない　）。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主人公が感情を押さえきれず（　泣きそうもない　／　</a:t>
            </a:r>
            <a:r>
              <a:rPr lang="ja-JP" altLang="en-US" sz="4800" dirty="0">
                <a:solidFill>
                  <a:srgbClr val="1C85C9"/>
                </a:solidFill>
              </a:rPr>
              <a:t>泣き込んだ　</a:t>
            </a:r>
            <a:r>
              <a:rPr lang="ja-JP" altLang="en-US" sz="4800" dirty="0"/>
              <a:t>）。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（　</a:t>
            </a:r>
            <a:r>
              <a:rPr lang="ja-JP" altLang="en-US" sz="4800" dirty="0">
                <a:solidFill>
                  <a:srgbClr val="1C85C9"/>
                </a:solidFill>
              </a:rPr>
              <a:t>なんと　</a:t>
            </a:r>
            <a:r>
              <a:rPr lang="ja-JP" altLang="en-US" sz="4800" dirty="0"/>
              <a:t>／　なんて　）、彼女は入社して</a:t>
            </a:r>
            <a:r>
              <a:rPr lang="en-US" altLang="ja-JP" sz="4800" dirty="0"/>
              <a:t>1</a:t>
            </a:r>
            <a:r>
              <a:rPr lang="ja-JP" altLang="en-US" sz="4800" dirty="0"/>
              <a:t>ヶ月で店長に昇進したのです！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3E2304C-EF0E-DF5D-18D7-8B008F02184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642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F0A653-E125-10F4-6790-C8025C1EBB43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筆者が「予想に反してうまくいきませんでした」と言っているのは、どんなことですか。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面接で言葉が出なかったこと。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日本人の友達ができなかったこと。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日本語に自信があったのに、就職活動がなかなか成功しなかったこと。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すぐに国へ帰らなければならなかったこと。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筆者が「予想に反してうまくいきませんでした」と言っているのは、どんなことですか。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面接で言葉が出なかったこと。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日本人の友達ができなかったこと。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C. </a:t>
            </a:r>
            <a:r>
              <a:rPr lang="ja-JP" altLang="en-US" sz="4800" dirty="0">
                <a:solidFill>
                  <a:srgbClr val="1C85C9"/>
                </a:solidFill>
              </a:rPr>
              <a:t>日本語に自信があったのに、就職活動がなかなか成功しなかったこと。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すぐに国へ帰らなければならなかったこと。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387907C-4FF0-D60B-5B22-CC1EE6A1DD01}"/>
              </a:ext>
            </a:extLst>
          </p:cNvPr>
          <p:cNvSpPr txBox="1"/>
          <p:nvPr/>
        </p:nvSpPr>
        <p:spPr>
          <a:xfrm>
            <a:off x="1043652" y="1004932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本文に「日本語には自信があったのですぐに決まると思っていたのに、予想に反してなかなかうまくいきませんでした。」とあるため</a:t>
            </a:r>
            <a:r>
              <a:rPr lang="en-US" altLang="ja-JP" sz="4800" dirty="0"/>
              <a:t>C</a:t>
            </a:r>
            <a:r>
              <a:rPr lang="ja-JP" altLang="en-US" sz="4800" dirty="0"/>
              <a:t>が正しい。</a:t>
            </a:r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筆者はどうして「国へ帰ろう」と思ったのですか。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病気になってしまったから。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日本での就職が無理だと思ったから。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両親に帰ってきてほしいと言われたから。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卒業までの時間がなかったから。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筆者はどうして「国へ帰ろう」と思ったのですか。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病気になってしまったから。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B. </a:t>
            </a:r>
            <a:r>
              <a:rPr lang="ja-JP" altLang="en-US" sz="4800" dirty="0">
                <a:solidFill>
                  <a:srgbClr val="1C85C9"/>
                </a:solidFill>
              </a:rPr>
              <a:t>日本での就職が無理だと思ったから。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両親に帰ってきてほしいと言われたから。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卒業までの時間がなかったから。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「もう日本での就職は無理に違いない」とあるように、就職できないと感じたことが理由。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0DC7B53-0103-E1A0-F1F3-15DFF822DA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筆者が最後に就職できた会社で、面接のときにどんなことがありましたか。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会社の名前を間違えてしまった。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面接中にコートを着たままだった。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書類を忘れてしまった。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日本語で話せなかった。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0905-BD41-B96E-B92F-C0769DC9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92FE2F65-EE2C-3DE9-04DF-3E842575BC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A6F6398-4125-3D01-B3FA-C72FE3AE26BE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筆者が最後に就職できた会社で、面接のときにどんなことがありましたか。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会社の名前を間違えてしまった。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B. </a:t>
            </a:r>
            <a:r>
              <a:rPr lang="ja-JP" altLang="en-US" sz="4800" dirty="0">
                <a:solidFill>
                  <a:srgbClr val="1C85C9"/>
                </a:solidFill>
              </a:rPr>
              <a:t>面接中にコートを着たままだった。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書類を忘れてしまった。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日本語で話せなかった。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56BF10-A4DB-12BD-61DF-20C1B5C688CB}"/>
              </a:ext>
            </a:extLst>
          </p:cNvPr>
          <p:cNvSpPr txBox="1"/>
          <p:nvPr/>
        </p:nvSpPr>
        <p:spPr>
          <a:xfrm>
            <a:off x="1043652" y="1004932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「終わってから気が付いたのですが、私はコートを着たまま面接を受けていたのです。」とある。</a:t>
            </a:r>
          </a:p>
        </p:txBody>
      </p:sp>
    </p:spTree>
    <p:extLst>
      <p:ext uri="{BB962C8B-B14F-4D97-AF65-F5344CB8AC3E}">
        <p14:creationId xmlns:p14="http://schemas.microsoft.com/office/powerpoint/2010/main" val="216927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8811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從早上到中午，雨下了又停停了又下。（～から～にかけて）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endParaRPr lang="ja-JP" altLang="en-US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 marL="914400" indent="-914400">
              <a:lnSpc>
                <a:spcPct val="150000"/>
              </a:lnSpc>
              <a:buFontTx/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明明很努力念書了，卻還是不及格，真是不甘心。（～てたまらない）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隨著人數增加，等待時間就變得更久。 （～にしたがって）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3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除了田中先生以外，大家似乎都不知道這件事。（～にしたがって）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endParaRPr lang="ja-JP" altLang="en-US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811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從早上到中午，雨下了又停停了又下。（～から～にかけて）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朝から昼にかけて、雨が降ったり止んだりしていました。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明明很努力念書了，卻還是不及格，真是不甘心。（～てたまらない）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一生懸命頑張ったのに、合格できなくて悔しくてたまらないです。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隨著人數增加，等待時間就變得更久。（～てたまらない）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人数が多くなるに従って、待ち時間が長くなります。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除了田中先生以外，大家似乎都不知道這</a:t>
            </a:r>
            <a:r>
              <a:rPr lang="ja-JP" altLang="en-US" sz="4800" b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件事。（～にしたがって）</a:t>
            </a: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田中さんを除いて、みんなこのことを知らないようです。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673</TotalTime>
  <Words>1809</Words>
  <Application>Microsoft Office PowerPoint</Application>
  <PresentationFormat>ユーザー設定</PresentationFormat>
  <Paragraphs>102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Wingdings 2</vt:lpstr>
      <vt:lpstr>Calibri</vt:lpstr>
      <vt:lpstr>Gen Jyuu Gothic Bold</vt:lpstr>
      <vt:lpstr>Microsoft JhengHei</vt:lpstr>
      <vt:lpstr>BIZ UDGothic</vt:lpstr>
      <vt:lpstr>Microsoft JhengHei Light</vt:lpstr>
      <vt:lpstr>BIZ UDPGothic</vt:lpstr>
      <vt:lpstr>HGPSoeiKakugothicUB</vt:lpstr>
      <vt:lpstr>Arial</vt:lpstr>
      <vt:lpstr>Calibri Light</vt:lpstr>
      <vt:lpstr>Gen Jyuu GothicL Bold</vt:lpstr>
      <vt:lpstr>Microsoft Yahei</vt:lpstr>
      <vt:lpstr>SimSun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2025-08-20T12:39:44Z</dcterms:modified>
</cp:coreProperties>
</file>